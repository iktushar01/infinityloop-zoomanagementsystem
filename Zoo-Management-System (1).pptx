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DM Sans Bold" panose="020B0604020202020204" charset="0"/>
      <p:regular r:id="rId16"/>
    </p:embeddedFont>
    <p:embeddedFont>
      <p:font typeface="DM Sans SemiBold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Inter Medium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20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4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4217"/>
            <a:ext cx="1086874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Zoo Management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356682" y="2718098"/>
            <a:ext cx="1147833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Enterprise Zoo Management Solution Built using </a:t>
            </a:r>
            <a:r>
              <a:rPr lang="en-US" sz="1600" b="1" dirty="0">
                <a:solidFill>
                  <a:srgbClr val="00D9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C# (.NET 10)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</a:t>
            </a:r>
            <a:r>
              <a:rPr lang="en-US" sz="1600" b="1" dirty="0">
                <a:solidFill>
                  <a:srgbClr val="00D9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327620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1475" y="3687862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Team Infinity Loop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61475" y="4266605"/>
            <a:ext cx="584225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Md. Ibrahim Khalil Tushar • Noor Hasnat • Limon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3687862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Department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303904" y="4266605"/>
            <a:ext cx="584225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Computer Science &amp; Engineering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4932263"/>
            <a:ext cx="2708108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91" y="4991795"/>
            <a:ext cx="132255" cy="1322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9024" y="4981873"/>
            <a:ext cx="292092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SOFTWARE ENGINEERING PROJECT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52230" y="4932263"/>
            <a:ext cx="2223833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446" y="4991795"/>
            <a:ext cx="132255" cy="1322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780" y="4981873"/>
            <a:ext cx="243665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UNIVERSITY PRESENTATION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F78A53-8107-4AA1-AB70-D8224FECE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081435" y="6190837"/>
            <a:ext cx="1110565" cy="6671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769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Problem Statement &amp; Objectives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692473"/>
            <a:ext cx="5470785" cy="4237831"/>
          </a:xfrm>
          <a:prstGeom prst="roundRect">
            <a:avLst>
              <a:gd name="adj" fmla="val 585"/>
            </a:avLst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710" y="1857772"/>
            <a:ext cx="514019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Problems Identified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07710" y="2333129"/>
            <a:ext cx="5140196" cy="3539331"/>
          </a:xfrm>
          <a:prstGeom prst="rect">
            <a:avLst/>
          </a:prstGeom>
          <a:noFill/>
          <a:ln/>
        </p:spPr>
        <p:txBody>
          <a:bodyPr wrap="square" lIns="0" tIns="82696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Manual animal records — error-prone and time-consuming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Manual feeding schedules — inconsistent dietary management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Poor enclosure management — capacity and habitat issues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 visitor tracking — no centralized attendance data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Revenue calculation problems — inaccurate financial reporting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3904" y="1857772"/>
            <a:ext cx="523266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Project Objectives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303904" y="2333129"/>
            <a:ext cx="5232666" cy="2662634"/>
          </a:xfrm>
          <a:prstGeom prst="rect">
            <a:avLst/>
          </a:prstGeom>
          <a:noFill/>
          <a:ln/>
        </p:spPr>
        <p:txBody>
          <a:bodyPr wrap="square" lIns="0" tIns="82696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 animals digitally with full records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 keepers and staff assignments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 enclosures and habitat capacity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Calculate food requirements automatically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visitors and attendance analytics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operational and financial reports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Improve overall zoo management efficiency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8A4309-3BF8-7B2B-9BEE-B7CEA02FC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081435" y="6190837"/>
            <a:ext cx="1110565" cy="6671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Architecture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19076"/>
            <a:ext cx="5850684" cy="28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Clean Architecture Layers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99580"/>
            <a:ext cx="5850684" cy="7515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0659" y="1527969"/>
            <a:ext cx="554311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40659" y="1825923"/>
            <a:ext cx="5543114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Interface — presentation layer for end-user interaction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32124"/>
            <a:ext cx="5850684" cy="7515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0659" y="2360513"/>
            <a:ext cx="554311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API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40659" y="2658467"/>
            <a:ext cx="5543114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REST Endpoints — HTTP interface exposing system capabilities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64669"/>
            <a:ext cx="5850684" cy="7515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0659" y="3193058"/>
            <a:ext cx="554311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Application / Services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0659" y="3491012"/>
            <a:ext cx="5543114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Business Logic — orchestrates use cases and workflows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97213"/>
            <a:ext cx="5850684" cy="7515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0659" y="4025602"/>
            <a:ext cx="554311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Domain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840659" y="4323556"/>
            <a:ext cx="5543114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Core Entities — pure business rules, no external dependencies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729758"/>
            <a:ext cx="5850684" cy="75158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0659" y="4858147"/>
            <a:ext cx="554311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840659" y="5156101"/>
            <a:ext cx="5543114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Access — repository implementations and external services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62302"/>
            <a:ext cx="5850684" cy="75158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40659" y="5690691"/>
            <a:ext cx="554311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MongoDB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840659" y="5988645"/>
            <a:ext cx="5543114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Database — scalable NoSQL persistence layer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6800878" y="1019076"/>
            <a:ext cx="4735592" cy="28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6800878" y="1399580"/>
            <a:ext cx="4735592" cy="726182"/>
          </a:xfrm>
          <a:prstGeom prst="roundRect">
            <a:avLst>
              <a:gd name="adj" fmla="val 239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6916564" y="1515269"/>
            <a:ext cx="450422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C#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6916564" y="1813223"/>
            <a:ext cx="450422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language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800878" y="2206724"/>
            <a:ext cx="4735592" cy="726182"/>
          </a:xfrm>
          <a:prstGeom prst="roundRect">
            <a:avLst>
              <a:gd name="adj" fmla="val 239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6916564" y="2322413"/>
            <a:ext cx="450422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.NET 10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6916564" y="2620367"/>
            <a:ext cx="450422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Runtime platform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800878" y="3013869"/>
            <a:ext cx="4735592" cy="726182"/>
          </a:xfrm>
          <a:prstGeom prst="roundRect">
            <a:avLst>
              <a:gd name="adj" fmla="val 239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6916564" y="3129558"/>
            <a:ext cx="450422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ASP.NET Core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6916564" y="3427512"/>
            <a:ext cx="450422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800878" y="3821013"/>
            <a:ext cx="4735592" cy="726182"/>
          </a:xfrm>
          <a:prstGeom prst="roundRect">
            <a:avLst>
              <a:gd name="adj" fmla="val 239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6916564" y="3936702"/>
            <a:ext cx="450422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MongoDB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916564" y="4234656"/>
            <a:ext cx="450422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NoSQL database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800878" y="4628158"/>
            <a:ext cx="4735592" cy="726182"/>
          </a:xfrm>
          <a:prstGeom prst="roundRect">
            <a:avLst>
              <a:gd name="adj" fmla="val 239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6916564" y="4743847"/>
            <a:ext cx="450422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REST API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6916564" y="5041801"/>
            <a:ext cx="450422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Integration layer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6800878" y="5435302"/>
            <a:ext cx="4735592" cy="726182"/>
          </a:xfrm>
          <a:prstGeom prst="roundRect">
            <a:avLst>
              <a:gd name="adj" fmla="val 239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6916564" y="5550991"/>
            <a:ext cx="450422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Clean Architecture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6916564" y="5848945"/>
            <a:ext cx="450422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pattern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2C71532-5203-7CB6-12A0-209760677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081435" y="6190837"/>
            <a:ext cx="1110565" cy="6671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620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Domain Model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34095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Class Hierarchy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256" y="1688009"/>
            <a:ext cx="4473364" cy="25162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73643" y="1334095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Relationships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6327" y="1723033"/>
            <a:ext cx="210835" cy="210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30435" y="1688009"/>
            <a:ext cx="4806135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Animal</a:t>
            </a: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inherits from </a:t>
            </a:r>
            <a:r>
              <a:rPr lang="en-US" sz="1350" dirty="0">
                <a:solidFill>
                  <a:srgbClr val="00D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BaseEntity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6327" y="2418755"/>
            <a:ext cx="210835" cy="2108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30435" y="2383730"/>
            <a:ext cx="4806135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Mammal</a:t>
            </a: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</a:t>
            </a: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Bird</a:t>
            </a: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inherit from </a:t>
            </a:r>
            <a:r>
              <a:rPr lang="en-US" sz="1350" dirty="0">
                <a:solidFill>
                  <a:srgbClr val="00D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Animal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6327" y="3114477"/>
            <a:ext cx="210835" cy="2108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30435" y="3079452"/>
            <a:ext cx="4806135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Keeper</a:t>
            </a: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manages </a:t>
            </a:r>
            <a:r>
              <a:rPr lang="en-US" sz="1350" dirty="0">
                <a:solidFill>
                  <a:srgbClr val="00D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Animals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6327" y="3810198"/>
            <a:ext cx="210835" cy="2108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730435" y="3775174"/>
            <a:ext cx="4806135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Enclosure</a:t>
            </a: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houses </a:t>
            </a:r>
            <a:r>
              <a:rPr lang="en-US" sz="1350" dirty="0">
                <a:solidFill>
                  <a:srgbClr val="00D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Animals</a:t>
            </a:r>
            <a:endParaRPr lang="en-US" sz="13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6327" y="4505920"/>
            <a:ext cx="210835" cy="2108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30435" y="4470896"/>
            <a:ext cx="4806135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Visitor</a:t>
            </a: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purchases </a:t>
            </a:r>
            <a:r>
              <a:rPr lang="en-US" sz="1350" dirty="0">
                <a:solidFill>
                  <a:srgbClr val="00D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Tickets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6273643" y="5062041"/>
            <a:ext cx="5262927" cy="1065312"/>
          </a:xfrm>
          <a:prstGeom prst="roundRect">
            <a:avLst>
              <a:gd name="adj" fmla="val 1979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133" y="5241330"/>
            <a:ext cx="219566" cy="17571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774189" y="5204619"/>
            <a:ext cx="4621891" cy="78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abstract </a:t>
            </a: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Animal</a:t>
            </a: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class enforces a consistent contract across all species types, enabling polymorphic behavior throughout the system.</a:t>
            </a:r>
            <a:endParaRPr lang="en-US" sz="13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67E5738-E2E4-E8B4-70E4-B99EE2D2D5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1081435" y="6190837"/>
            <a:ext cx="1110565" cy="6671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226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Object-Oriented Programming Concepts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962323"/>
            <a:ext cx="10868745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Core OOP Principles Implemented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300857"/>
            <a:ext cx="5393892" cy="1318915"/>
          </a:xfrm>
          <a:prstGeom prst="roundRect">
            <a:avLst>
              <a:gd name="adj" fmla="val 131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161" y="1416546"/>
            <a:ext cx="347257" cy="347266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607" y="1511995"/>
            <a:ext cx="156266" cy="1562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161" y="1844774"/>
            <a:ext cx="516252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Abstraction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161" y="2110383"/>
            <a:ext cx="51625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Animal is an abstract base class — defines contract without exposing implementation details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36328" y="1300857"/>
            <a:ext cx="5393892" cy="1318915"/>
          </a:xfrm>
          <a:prstGeom prst="roundRect">
            <a:avLst>
              <a:gd name="adj" fmla="val 131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252014" y="1416546"/>
            <a:ext cx="347257" cy="347266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60" y="1511995"/>
            <a:ext cx="156266" cy="1562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52014" y="1844774"/>
            <a:ext cx="516252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Inheritance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252014" y="2110383"/>
            <a:ext cx="51625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Mammal and Bird inherit from Animal — reusing shared behavior and structure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1475" y="2700734"/>
            <a:ext cx="5393892" cy="1318915"/>
          </a:xfrm>
          <a:prstGeom prst="roundRect">
            <a:avLst>
              <a:gd name="adj" fmla="val 131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161" y="2816423"/>
            <a:ext cx="347257" cy="347266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607" y="2911872"/>
            <a:ext cx="156266" cy="15627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161" y="3244652"/>
            <a:ext cx="516252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Polymorphism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77161" y="3510260"/>
            <a:ext cx="51625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CalculateFood() overridden in subclasses — each species computes dietary needs differently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36328" y="2700734"/>
            <a:ext cx="5393892" cy="1318915"/>
          </a:xfrm>
          <a:prstGeom prst="roundRect">
            <a:avLst>
              <a:gd name="adj" fmla="val 131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252014" y="2816423"/>
            <a:ext cx="347257" cy="347266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7460" y="2911872"/>
            <a:ext cx="156266" cy="15627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52014" y="3244652"/>
            <a:ext cx="516252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Encapsulation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52014" y="3510260"/>
            <a:ext cx="516252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Private fields with public properties — controlled access to internal state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1475" y="4201815"/>
            <a:ext cx="5293188" cy="967482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89861" y="4330204"/>
            <a:ext cx="5036416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Interfaces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89861" y="4628158"/>
            <a:ext cx="50364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IFeedable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11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IHealthCheck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behavioral contracts decoupled from implementation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61475" y="5250259"/>
            <a:ext cx="5293188" cy="948432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89861" y="5378648"/>
            <a:ext cx="5036416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Method Overriding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89861" y="5676602"/>
            <a:ext cx="503641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Subclasses override parent methods to provide species-specific behavior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243382" y="4201815"/>
            <a:ext cx="5293188" cy="948432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371768" y="4330204"/>
            <a:ext cx="5036416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Operator &amp; Constructor Overloading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6371768" y="4628158"/>
            <a:ext cx="503641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 operators for entities; multiple constructors per class for flexible instantiation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243382" y="5231209"/>
            <a:ext cx="5293188" cy="948432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6371768" y="5359598"/>
            <a:ext cx="5036416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Static Classes &amp; Function Overloading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6371768" y="5657552"/>
            <a:ext cx="503641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Utility classes for shared calculations; multiple method signatures for flexible APIs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70FDAA3-9C80-0A91-3CFF-EC8E42C1E2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1081435" y="6190837"/>
            <a:ext cx="1110565" cy="667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99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Business Logic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54112"/>
            <a:ext cx="528306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Animal Management Workflow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858" y="1568748"/>
            <a:ext cx="3962301" cy="14867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23293" y="2694608"/>
            <a:ext cx="597601" cy="115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Check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770152" y="2694608"/>
            <a:ext cx="597601" cy="115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Food Needs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021105" y="2637046"/>
            <a:ext cx="597601" cy="230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Assign Enclosure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272058" y="2637046"/>
            <a:ext cx="597601" cy="230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Assign Keeper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506638" y="2694608"/>
            <a:ext cx="597601" cy="115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Added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61475" y="3160117"/>
            <a:ext cx="528306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Each animal entering the system triggers a structured onboarding pipeline — from keeper assignment through enclosure allocation, dietary calculation, health verification, and final report generation.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53502" y="1154112"/>
            <a:ext cx="528306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Supporting Processes</a:t>
            </a:r>
            <a:endParaRPr lang="en-US" sz="1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3502" y="1568748"/>
            <a:ext cx="310051" cy="3100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53502" y="1995091"/>
            <a:ext cx="52830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Food Calculator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253502" y="2320528"/>
            <a:ext cx="5283068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Automatic dietary calculations based on species, weight, and health status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3502" y="2940745"/>
            <a:ext cx="310051" cy="3100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53502" y="3367088"/>
            <a:ext cx="52830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Ticket Revenue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253502" y="3692525"/>
            <a:ext cx="528306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Visitor revenue tracking with automated financial summaries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3502" y="4095651"/>
            <a:ext cx="310051" cy="3100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3502" y="4521994"/>
            <a:ext cx="52830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Health Records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253502" y="4847431"/>
            <a:ext cx="528306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Complete medical history management per animal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3502" y="5250557"/>
            <a:ext cx="310051" cy="31005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53502" y="5676900"/>
            <a:ext cx="52830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Visitor Tracking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253502" y="6002338"/>
            <a:ext cx="528306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Attendance analytics and demographic data collection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2C4EFE5-0924-6D49-CB98-58D46920B4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1081435" y="6190837"/>
            <a:ext cx="1110565" cy="6671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27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068983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Complete System Capabilities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661475" y="1558429"/>
            <a:ext cx="10868745" cy="2283619"/>
          </a:xfrm>
          <a:prstGeom prst="roundRect">
            <a:avLst>
              <a:gd name="adj" fmla="val 8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1475" y="1558429"/>
            <a:ext cx="5434373" cy="761206"/>
          </a:xfrm>
          <a:custGeom>
            <a:avLst/>
            <a:gdLst/>
            <a:ahLst/>
            <a:cxnLst/>
            <a:rect l="l" t="t" r="r" b="b"/>
            <a:pathLst>
              <a:path w="5434373" h="761206">
                <a:moveTo>
                  <a:pt x="16539" y="0"/>
                </a:moveTo>
                <a:lnTo>
                  <a:pt x="5434373" y="0"/>
                </a:lnTo>
                <a:lnTo>
                  <a:pt x="5434373" y="761206"/>
                </a:lnTo>
                <a:lnTo>
                  <a:pt x="0" y="761206"/>
                </a:lnTo>
                <a:lnTo>
                  <a:pt x="0" y="16540"/>
                </a:lnTo>
                <a:arcTo wR="16539" hR="16540" stAng="10800000" swAng="5400000"/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7239" y="1664196"/>
            <a:ext cx="506399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Animal Management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67239" y="1975743"/>
            <a:ext cx="50639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Add, update, delete animals with full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1558429"/>
            <a:ext cx="5434373" cy="761206"/>
          </a:xfrm>
          <a:custGeom>
            <a:avLst/>
            <a:gdLst/>
            <a:ahLst/>
            <a:cxnLst/>
            <a:rect l="l" t="t" r="r" b="b"/>
            <a:pathLst>
              <a:path w="5434373" h="761206">
                <a:moveTo>
                  <a:pt x="0" y="0"/>
                </a:moveTo>
                <a:lnTo>
                  <a:pt x="5417834" y="0"/>
                </a:lnTo>
                <a:arcTo wR="16539" hR="16540" stAng="16200000" swAng="5400000"/>
                <a:lnTo>
                  <a:pt x="5434373" y="761206"/>
                </a:lnTo>
                <a:lnTo>
                  <a:pt x="0" y="761206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95848" y="1558429"/>
            <a:ext cx="19050" cy="76120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60457" y="1664196"/>
            <a:ext cx="506399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Keeper Management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60457" y="1975743"/>
            <a:ext cx="50639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Assign and manage zoo staff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30553" y="1773684"/>
            <a:ext cx="330688" cy="330696"/>
          </a:xfrm>
          <a:prstGeom prst="roundRect">
            <a:avLst>
              <a:gd name="adj" fmla="val 600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3200" y="1856333"/>
            <a:ext cx="165294" cy="16529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61475" y="2319635"/>
            <a:ext cx="5434373" cy="761206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61475" y="2319635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7239" y="2425402"/>
            <a:ext cx="506399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Visitor Management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67239" y="2736949"/>
            <a:ext cx="50639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visitor information and demographics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95848" y="2319635"/>
            <a:ext cx="5434373" cy="761206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095848" y="2319635"/>
            <a:ext cx="19050" cy="76120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095848" y="2319635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60457" y="2425402"/>
            <a:ext cx="506399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Ticket Management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6360457" y="2736949"/>
            <a:ext cx="50639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Automated ticket generation and sales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30553" y="2534890"/>
            <a:ext cx="330688" cy="330696"/>
          </a:xfrm>
          <a:prstGeom prst="roundRect">
            <a:avLst>
              <a:gd name="adj" fmla="val 600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3200" y="2617539"/>
            <a:ext cx="165294" cy="16529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61475" y="3080841"/>
            <a:ext cx="10868745" cy="761206"/>
          </a:xfrm>
          <a:custGeom>
            <a:avLst/>
            <a:gdLst/>
            <a:ahLst/>
            <a:cxnLst/>
            <a:rect l="l" t="t" r="r" b="b"/>
            <a:pathLst>
              <a:path w="10868745" h="761206">
                <a:moveTo>
                  <a:pt x="0" y="0"/>
                </a:moveTo>
                <a:lnTo>
                  <a:pt x="10868745" y="0"/>
                </a:lnTo>
                <a:lnTo>
                  <a:pt x="10868745" y="744667"/>
                </a:lnTo>
                <a:arcTo wR="16539" hR="16540" stAng="0" swAng="5400000"/>
                <a:lnTo>
                  <a:pt x="16539" y="761206"/>
                </a:lnTo>
                <a:arcTo wR="16539" hR="16540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61475" y="308084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767239" y="3186609"/>
            <a:ext cx="104983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Food Calculation</a:t>
            </a:r>
            <a:endParaRPr lang="en-US" sz="1550" dirty="0"/>
          </a:p>
        </p:txBody>
      </p:sp>
      <p:sp>
        <p:nvSpPr>
          <p:cNvPr id="28" name="Text 24"/>
          <p:cNvSpPr/>
          <p:nvPr/>
        </p:nvSpPr>
        <p:spPr>
          <a:xfrm>
            <a:off x="767239" y="3498155"/>
            <a:ext cx="1049837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Automatic dietary requirement calculations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61475" y="3961110"/>
            <a:ext cx="10868745" cy="2283619"/>
          </a:xfrm>
          <a:prstGeom prst="roundRect">
            <a:avLst>
              <a:gd name="adj" fmla="val 8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1475" y="3961110"/>
            <a:ext cx="5434373" cy="761206"/>
          </a:xfrm>
          <a:custGeom>
            <a:avLst/>
            <a:gdLst/>
            <a:ahLst/>
            <a:cxnLst/>
            <a:rect l="l" t="t" r="r" b="b"/>
            <a:pathLst>
              <a:path w="5434373" h="761206">
                <a:moveTo>
                  <a:pt x="16539" y="0"/>
                </a:moveTo>
                <a:lnTo>
                  <a:pt x="5434373" y="0"/>
                </a:lnTo>
                <a:lnTo>
                  <a:pt x="5434373" y="761206"/>
                </a:lnTo>
                <a:lnTo>
                  <a:pt x="0" y="761206"/>
                </a:lnTo>
                <a:lnTo>
                  <a:pt x="0" y="16540"/>
                </a:lnTo>
                <a:arcTo wR="16539" hR="16540" stAng="10800000" swAng="5400000"/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767239" y="4066877"/>
            <a:ext cx="506399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Health Monitoring</a:t>
            </a:r>
            <a:endParaRPr lang="en-US" sz="1550" dirty="0"/>
          </a:p>
        </p:txBody>
      </p:sp>
      <p:sp>
        <p:nvSpPr>
          <p:cNvPr id="32" name="Text 28"/>
          <p:cNvSpPr/>
          <p:nvPr/>
        </p:nvSpPr>
        <p:spPr>
          <a:xfrm>
            <a:off x="767239" y="4378424"/>
            <a:ext cx="50639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animal health and medical records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095848" y="3961110"/>
            <a:ext cx="5434373" cy="761206"/>
          </a:xfrm>
          <a:custGeom>
            <a:avLst/>
            <a:gdLst/>
            <a:ahLst/>
            <a:cxnLst/>
            <a:rect l="l" t="t" r="r" b="b"/>
            <a:pathLst>
              <a:path w="5434373" h="761206">
                <a:moveTo>
                  <a:pt x="0" y="0"/>
                </a:moveTo>
                <a:lnTo>
                  <a:pt x="5417834" y="0"/>
                </a:lnTo>
                <a:arcTo wR="16539" hR="16540" stAng="16200000" swAng="5400000"/>
                <a:lnTo>
                  <a:pt x="5434373" y="761206"/>
                </a:lnTo>
                <a:lnTo>
                  <a:pt x="0" y="761206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095848" y="3961110"/>
            <a:ext cx="19050" cy="76120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360457" y="4066877"/>
            <a:ext cx="506399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Enclosure Management</a:t>
            </a:r>
            <a:endParaRPr lang="en-US" sz="1550" dirty="0"/>
          </a:p>
        </p:txBody>
      </p:sp>
      <p:sp>
        <p:nvSpPr>
          <p:cNvPr id="36" name="Text 32"/>
          <p:cNvSpPr/>
          <p:nvPr/>
        </p:nvSpPr>
        <p:spPr>
          <a:xfrm>
            <a:off x="6360457" y="4378424"/>
            <a:ext cx="50639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 habitats and capacity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930553" y="4176365"/>
            <a:ext cx="330688" cy="330696"/>
          </a:xfrm>
          <a:prstGeom prst="roundRect">
            <a:avLst>
              <a:gd name="adj" fmla="val 600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3200" y="4259014"/>
            <a:ext cx="165294" cy="165298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661475" y="4722316"/>
            <a:ext cx="5434373" cy="761206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661475" y="4722316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767239" y="4828084"/>
            <a:ext cx="506399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Revenue Reports</a:t>
            </a:r>
            <a:endParaRPr lang="en-US" sz="1550" dirty="0"/>
          </a:p>
        </p:txBody>
      </p:sp>
      <p:sp>
        <p:nvSpPr>
          <p:cNvPr id="42" name="Text 37"/>
          <p:cNvSpPr/>
          <p:nvPr/>
        </p:nvSpPr>
        <p:spPr>
          <a:xfrm>
            <a:off x="767239" y="5139630"/>
            <a:ext cx="50639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financial and operational reports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6095848" y="4722316"/>
            <a:ext cx="5434373" cy="761206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6095848" y="4722316"/>
            <a:ext cx="19050" cy="76120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6095848" y="4722316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6360457" y="4828084"/>
            <a:ext cx="506399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MongoDB Storage</a:t>
            </a:r>
            <a:endParaRPr lang="en-US" sz="1550" dirty="0"/>
          </a:p>
        </p:txBody>
      </p:sp>
      <p:sp>
        <p:nvSpPr>
          <p:cNvPr id="47" name="Text 42"/>
          <p:cNvSpPr/>
          <p:nvPr/>
        </p:nvSpPr>
        <p:spPr>
          <a:xfrm>
            <a:off x="6360457" y="5139630"/>
            <a:ext cx="50639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Scalable NoSQL database persistence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5930553" y="4937571"/>
            <a:ext cx="330688" cy="330696"/>
          </a:xfrm>
          <a:prstGeom prst="roundRect">
            <a:avLst>
              <a:gd name="adj" fmla="val 600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00" y="5020221"/>
            <a:ext cx="165294" cy="165298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661475" y="5483523"/>
            <a:ext cx="10868745" cy="761206"/>
          </a:xfrm>
          <a:custGeom>
            <a:avLst/>
            <a:gdLst/>
            <a:ahLst/>
            <a:cxnLst/>
            <a:rect l="l" t="t" r="r" b="b"/>
            <a:pathLst>
              <a:path w="10868745" h="761206">
                <a:moveTo>
                  <a:pt x="0" y="0"/>
                </a:moveTo>
                <a:lnTo>
                  <a:pt x="10868745" y="0"/>
                </a:lnTo>
                <a:lnTo>
                  <a:pt x="10868745" y="744667"/>
                </a:lnTo>
                <a:arcTo wR="16539" hR="16540" stAng="0" swAng="5400000"/>
                <a:lnTo>
                  <a:pt x="16539" y="761206"/>
                </a:lnTo>
                <a:arcTo wR="16539" hR="16540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661475" y="548352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767239" y="5589290"/>
            <a:ext cx="104983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REST API</a:t>
            </a:r>
            <a:endParaRPr lang="en-US" sz="1550" dirty="0"/>
          </a:p>
        </p:txBody>
      </p:sp>
      <p:sp>
        <p:nvSpPr>
          <p:cNvPr id="53" name="Text 47"/>
          <p:cNvSpPr/>
          <p:nvPr/>
        </p:nvSpPr>
        <p:spPr>
          <a:xfrm>
            <a:off x="767239" y="5900837"/>
            <a:ext cx="1049837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Full API for system integration</a:t>
            </a:r>
            <a:endParaRPr lang="en-US" sz="13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9E74295-2C0B-29DD-00B5-F764FBB874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1081435" y="6190837"/>
            <a:ext cx="1110565" cy="6671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3744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107579"/>
            <a:ext cx="10868745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Project Achievements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81038"/>
            <a:ext cx="5399449" cy="11480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6659" y="1577677"/>
            <a:ext cx="128981" cy="1289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1626" y="1910953"/>
            <a:ext cx="5159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Clean Architecture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81626" y="2154337"/>
            <a:ext cx="5159147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Layered, maintainable design with clear separation of concerns across all system tiers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0772" y="1481038"/>
            <a:ext cx="5399449" cy="114806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5956" y="1577677"/>
            <a:ext cx="128981" cy="1289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50923" y="1910953"/>
            <a:ext cx="5159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OOP Principles</a:t>
            </a:r>
            <a:endParaRPr lang="en-US" sz="1250" dirty="0"/>
          </a:p>
        </p:txBody>
      </p:sp>
      <p:sp>
        <p:nvSpPr>
          <p:cNvPr id="11" name="Text 5"/>
          <p:cNvSpPr/>
          <p:nvPr/>
        </p:nvSpPr>
        <p:spPr>
          <a:xfrm>
            <a:off x="6250923" y="2154337"/>
            <a:ext cx="5159147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Full implementation of abstraction, inheritance, polymorphism, encapsulation, and more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98948"/>
            <a:ext cx="5399449" cy="114806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6659" y="2795588"/>
            <a:ext cx="128981" cy="12898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81626" y="3128863"/>
            <a:ext cx="5159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Modern C# / .NET 10</a:t>
            </a:r>
            <a:endParaRPr lang="en-US" sz="1250" dirty="0"/>
          </a:p>
        </p:txBody>
      </p:sp>
      <p:sp>
        <p:nvSpPr>
          <p:cNvPr id="15" name="Text 7"/>
          <p:cNvSpPr/>
          <p:nvPr/>
        </p:nvSpPr>
        <p:spPr>
          <a:xfrm>
            <a:off x="781626" y="3372247"/>
            <a:ext cx="5159147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Leveraging the latest .NET 10 features for performance and developer productivity</a:t>
            </a:r>
            <a:endParaRPr lang="en-US" sz="10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0772" y="2698948"/>
            <a:ext cx="5399449" cy="114806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5956" y="2795588"/>
            <a:ext cx="128981" cy="12898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250923" y="3128863"/>
            <a:ext cx="5159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MongoDB Integration</a:t>
            </a:r>
            <a:endParaRPr lang="en-US" sz="1250" dirty="0"/>
          </a:p>
        </p:txBody>
      </p:sp>
      <p:sp>
        <p:nvSpPr>
          <p:cNvPr id="19" name="Text 9"/>
          <p:cNvSpPr/>
          <p:nvPr/>
        </p:nvSpPr>
        <p:spPr>
          <a:xfrm>
            <a:off x="6250923" y="3372247"/>
            <a:ext cx="5159147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Scalable NoSQL database implementation with full CRUD operations</a:t>
            </a:r>
            <a:endParaRPr lang="en-US" sz="10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25590"/>
            <a:ext cx="5399449" cy="1148060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96659" y="4022229"/>
            <a:ext cx="128981" cy="128984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781626" y="4355505"/>
            <a:ext cx="5159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REST API</a:t>
            </a:r>
            <a:endParaRPr lang="en-US" sz="1250" dirty="0"/>
          </a:p>
        </p:txBody>
      </p:sp>
      <p:sp>
        <p:nvSpPr>
          <p:cNvPr id="23" name="Text 11"/>
          <p:cNvSpPr/>
          <p:nvPr/>
        </p:nvSpPr>
        <p:spPr>
          <a:xfrm>
            <a:off x="781626" y="4598888"/>
            <a:ext cx="5159147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Complete API endpoints enabling full system integration and extensibility</a:t>
            </a:r>
            <a:endParaRPr lang="en-US" sz="105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0772" y="3925590"/>
            <a:ext cx="5399449" cy="1148060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65956" y="4022229"/>
            <a:ext cx="128981" cy="128984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6250923" y="4355505"/>
            <a:ext cx="5159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Modular Design</a:t>
            </a:r>
            <a:endParaRPr lang="en-US" sz="1250" dirty="0"/>
          </a:p>
        </p:txBody>
      </p:sp>
      <p:sp>
        <p:nvSpPr>
          <p:cNvPr id="27" name="Text 13"/>
          <p:cNvSpPr/>
          <p:nvPr/>
        </p:nvSpPr>
        <p:spPr>
          <a:xfrm>
            <a:off x="6250923" y="4598888"/>
            <a:ext cx="5159147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Decoupled, reusable components that can be independently maintained and extended</a:t>
            </a:r>
            <a:endParaRPr lang="en-US" sz="105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143500"/>
            <a:ext cx="5399449" cy="970756"/>
          </a:xfrm>
          <a:prstGeom prst="rect">
            <a:avLst/>
          </a:prstGeom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96659" y="5240139"/>
            <a:ext cx="128981" cy="128984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781626" y="5573415"/>
            <a:ext cx="5159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Scalable Architecture</a:t>
            </a:r>
            <a:endParaRPr lang="en-US" sz="1250" dirty="0"/>
          </a:p>
        </p:txBody>
      </p:sp>
      <p:sp>
        <p:nvSpPr>
          <p:cNvPr id="31" name="Text 15"/>
          <p:cNvSpPr/>
          <p:nvPr/>
        </p:nvSpPr>
        <p:spPr>
          <a:xfrm>
            <a:off x="781626" y="5816798"/>
            <a:ext cx="5159147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Enterprise-ready solution designed to grow with operational demands</a:t>
            </a:r>
            <a:endParaRPr lang="en-US" sz="1050" dirty="0"/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0772" y="5143500"/>
            <a:ext cx="5399449" cy="970756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65956" y="5240139"/>
            <a:ext cx="128981" cy="128984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6250923" y="5573415"/>
            <a:ext cx="5159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Enterprise Ready</a:t>
            </a:r>
            <a:endParaRPr lang="en-US" sz="1250" dirty="0"/>
          </a:p>
        </p:txBody>
      </p:sp>
      <p:sp>
        <p:nvSpPr>
          <p:cNvPr id="35" name="Text 17"/>
          <p:cNvSpPr/>
          <p:nvPr/>
        </p:nvSpPr>
        <p:spPr>
          <a:xfrm>
            <a:off x="6250923" y="5816798"/>
            <a:ext cx="5159147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Production-quality code adhering to industry best practices and standards</a:t>
            </a:r>
            <a:endParaRPr lang="en-US" sz="10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5D6B4F5-2F0F-99C2-F89F-D0D141AE42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11081435" y="6190837"/>
            <a:ext cx="1110565" cy="6671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4480"/>
            <a:ext cx="10868745" cy="155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Thank You</a:t>
            </a:r>
            <a:endParaRPr lang="en-US" sz="9750" dirty="0"/>
          </a:p>
        </p:txBody>
      </p:sp>
      <p:sp>
        <p:nvSpPr>
          <p:cNvPr id="3" name="Shape 1"/>
          <p:cNvSpPr/>
          <p:nvPr/>
        </p:nvSpPr>
        <p:spPr>
          <a:xfrm>
            <a:off x="661475" y="315694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6682" y="3403302"/>
            <a:ext cx="1147833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D9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Zoo Management System</a:t>
            </a:r>
            <a:r>
              <a:rPr lang="en-US" sz="16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Enterprise Solution Built with C# (.NET 10) &amp; Clean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4085431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Team Infinity Loop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61475" y="4664174"/>
            <a:ext cx="5232666" cy="810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6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Md. Ibrahim Khalil Tushar • Noor Hasnat • Limon</a:t>
            </a:r>
            <a:endParaRPr lang="en-US" sz="16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Department of Computer Science &amp; Engineering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4085431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303904" y="4684911"/>
            <a:ext cx="981150" cy="251420"/>
          </a:xfrm>
          <a:prstGeom prst="roundRect">
            <a:avLst>
              <a:gd name="adj" fmla="val 7894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3120" y="4734520"/>
            <a:ext cx="139230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C# / .NET 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67701" y="4684911"/>
            <a:ext cx="1162715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66917" y="4734520"/>
            <a:ext cx="157386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ASP.NET 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13063" y="4684911"/>
            <a:ext cx="903166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12280" y="4734520"/>
            <a:ext cx="131431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MONGODB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598876" y="4684911"/>
            <a:ext cx="784801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98093" y="4734520"/>
            <a:ext cx="119595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3904" y="5018980"/>
            <a:ext cx="1702849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3120" y="5068590"/>
            <a:ext cx="21140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CLEAN ARCHITECTURE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ADFDBED-85C8-8230-4D40-4BD92A7BD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081435" y="6190837"/>
            <a:ext cx="1110565" cy="6671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699</Words>
  <Application>Microsoft Office PowerPoint</Application>
  <PresentationFormat>Widescreen</PresentationFormat>
  <Paragraphs>154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DM Sans SemiBold</vt:lpstr>
      <vt:lpstr>Inter Bold</vt:lpstr>
      <vt:lpstr>Consolas</vt:lpstr>
      <vt:lpstr>Inter Medium</vt:lpstr>
      <vt:lpstr>Arial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Ibrahim Khalil Tushar</cp:lastModifiedBy>
  <cp:revision>2</cp:revision>
  <dcterms:created xsi:type="dcterms:W3CDTF">2026-08-15T00:56:18Z</dcterms:created>
  <dcterms:modified xsi:type="dcterms:W3CDTF">2026-08-15T01:01:58Z</dcterms:modified>
</cp:coreProperties>
</file>